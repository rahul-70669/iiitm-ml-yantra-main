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pace Grotesk"/>
              </a:defRPr>
            </a:pPr>
            <a:r>
              <a:t>ML Yantra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Inter"/>
              </a:defRPr>
            </a:pPr>
            <a:r>
              <a:t>Machine Learning Without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pace Grotesk"/>
              </a:defRPr>
            </a:pPr>
            <a: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pace Grotesk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Technical Barrier: ML requires knowledge of Python, data science libraries, and algorithms - preventing many professionals from leveraging these powerful techniques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Time-Consuming Manual Work: Data scientists spend countless hours on repetitive data cleaning and model training tasks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Inaccessibility for Non-Technical Users: Business analysts, domain experts, and students struggle with steep learning curves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Delayed Insights: Waiting weeks for data science teams to build simple models slows down decision-making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Limited Experimentation: Setting up environments and debugging preprocessing code prevents rapid iteration and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pace Grotesk"/>
              </a:defRPr>
            </a:pPr>
            <a:r>
              <a:t>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pace Grotesk"/>
              </a:defRPr>
            </a:pPr>
            <a:r>
              <a:t>ML Yantra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No-Code Platform: ML Yantra provides an intuitive, web-based platform where users can prepare data and train ML models without writing a single line of code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AI-Powered Guidance: Intelligent AI assistant analyzes datasets in real-time and suggests best next steps with clear explanations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Comprehensive Data Preparation: Sophisticated cleaning capabilities including null handling, duplicate detection, encoding (Label, One-Hot, Ordinal), filtering, and column management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Multiple ML Algorithms: Support for classification (Logistic Regression, Random Forest, Decision Tree, SVM) and regression (Linear Regression, Random Forest, Decision Tree, SVR, XGBoost)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Real-Time Preview &amp; Undo: Fearless experimentation with adjustable data preview (1-50 rows) and robust undo/redo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pace Grotesk"/>
              </a:defRPr>
            </a:pPr>
            <a:r>
              <a:t>User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1. UPLOAD: Drag-and-drop CSV files (max 100MB) with automatic type detection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2. CLEAN: Use visual operations panel with tabs for Nulls, Duplicates, Convert, Encode, Filter, and Column management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3. PREVIEW: See real-time data preview after each operation with adjustable row count slider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4. TRAIN: Select features, choose algorithms, configure train/test split, and train models with progress tracking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5. EVALUATE: Compare models with comprehensive metrics, interactive visualizations (confusion matrix, ROC curves, feature importance)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6. EXPORT: Download cleaned data, predictions, and model configurations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pace Grotesk"/>
              </a:defRPr>
            </a:pPr>
            <a:r>
              <a:t>FLOWCHART /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pace Grotesk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FRONTEND (React 19 + TypeScript)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↓ User Interface Layer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• Vite 6.x, React Router v7, Zustand (State Management)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• Tailwind CSS v4 + DaisyUI v5.5 (Gradient Theme)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• Recharts/Chart.js (Visualizations)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↕ REST API (Axios HTTP Client)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BACKEND (FastAPI + Python 3.11+)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↓ API Layer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• FastAPI endpoints for data operations &amp; ML training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• SQLAlchemy 2.0 ORM + SQLite/PostgreSQL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↓ Data Processing Layer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• pandas 2.1+ (data manipulation)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• scikit-learn 1.4+ (ML algorithms)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  • XGBoost 2.0+ (advanced models)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pace Grotesk"/>
              </a:defRPr>
            </a:pPr>
            <a:r>
              <a:t>FEATURES &amp; NOVELTY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pace Grotesk"/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FF77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 wrap="square"/>
          <a:lstStyle/>
          <a:p>
            <a:pPr algn="ctr">
              <a:defRPr sz="1600" b="1">
                <a:solidFill>
                  <a:srgbClr val="FFFFFF"/>
                </a:solidFill>
                <a:latin typeface="Space Grotesk"/>
              </a:defRPr>
            </a:pPr>
            <a:r>
              <a:t>AI Assistant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Inter"/>
              </a:defRPr>
            </a:pPr>
            <a:r>
              <a:t>Context-aware suggestions and dataset analysis with explanations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371600"/>
            <a:ext cx="2560320" cy="1645920"/>
          </a:xfrm>
          <a:prstGeom prst="roundRect">
            <a:avLst/>
          </a:prstGeom>
          <a:solidFill>
            <a:srgbClr val="FF7D5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 wrap="square"/>
          <a:lstStyle/>
          <a:p>
            <a:pPr algn="ctr">
              <a:defRPr sz="1600" b="1">
                <a:solidFill>
                  <a:srgbClr val="FFFFFF"/>
                </a:solidFill>
                <a:latin typeface="Space Grotesk"/>
              </a:defRPr>
            </a:pPr>
            <a:r>
              <a:t>Visual Data Cleaning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Inter"/>
              </a:defRPr>
            </a:pPr>
            <a:r>
              <a:t>Intuitive operations with real-time preview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2560320" cy="1645920"/>
          </a:xfrm>
          <a:prstGeom prst="roundRect">
            <a:avLst/>
          </a:prstGeom>
          <a:solidFill>
            <a:srgbClr val="FF66A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 wrap="square"/>
          <a:lstStyle/>
          <a:p>
            <a:pPr algn="ctr">
              <a:defRPr sz="1600" b="1">
                <a:solidFill>
                  <a:srgbClr val="FFFFFF"/>
                </a:solidFill>
                <a:latin typeface="Space Grotesk"/>
              </a:defRPr>
            </a:pPr>
            <a:r>
              <a:t>Multiple Encodings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Inter"/>
              </a:defRPr>
            </a:pPr>
            <a:r>
              <a:t>Label, One-Hot, and Ordinal encoding strategies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560320" cy="1645920"/>
          </a:xfrm>
          <a:prstGeom prst="roundRect">
            <a:avLst/>
          </a:prstGeom>
          <a:solidFill>
            <a:srgbClr val="FF77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 wrap="square"/>
          <a:lstStyle/>
          <a:p>
            <a:pPr algn="ctr">
              <a:defRPr sz="1600" b="1">
                <a:solidFill>
                  <a:srgbClr val="FFFFFF"/>
                </a:solidFill>
                <a:latin typeface="Space Grotesk"/>
              </a:defRPr>
            </a:pPr>
            <a:r>
              <a:t>Advanced Filtering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Inter"/>
              </a:defRPr>
            </a:pPr>
            <a:r>
              <a:t>Numeric ranges, categorical selections, text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291840"/>
            <a:ext cx="2560320" cy="1645920"/>
          </a:xfrm>
          <a:prstGeom prst="roundRect">
            <a:avLst/>
          </a:prstGeom>
          <a:solidFill>
            <a:srgbClr val="FF7D5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 wrap="square"/>
          <a:lstStyle/>
          <a:p>
            <a:pPr algn="ctr">
              <a:defRPr sz="1600" b="1">
                <a:solidFill>
                  <a:srgbClr val="FFFFFF"/>
                </a:solidFill>
                <a:latin typeface="Space Grotesk"/>
              </a:defRPr>
            </a:pPr>
            <a:r>
              <a:t>Undo/Redo System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Inter"/>
              </a:defRPr>
            </a:pPr>
            <a:r>
              <a:t>Full operation history with keyboard shortcuts (Ctrl+Z/Y)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291840"/>
            <a:ext cx="2560320" cy="1645920"/>
          </a:xfrm>
          <a:prstGeom prst="roundRect">
            <a:avLst/>
          </a:prstGeom>
          <a:solidFill>
            <a:srgbClr val="FF66A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 wrap="square"/>
          <a:lstStyle/>
          <a:p>
            <a:pPr algn="ctr">
              <a:defRPr sz="1600" b="1">
                <a:solidFill>
                  <a:srgbClr val="FFFFFF"/>
                </a:solidFill>
                <a:latin typeface="Space Grotesk"/>
              </a:defRPr>
            </a:pPr>
            <a:r>
              <a:t>Model Comparison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Inter"/>
              </a:defRPr>
            </a:pPr>
            <a:r>
              <a:t>Side-by-side metrics with interactive visualizations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pace Grotesk"/>
              </a:defRPr>
            </a:pPr>
            <a:r>
              <a:t>What Makes ML Yantra Unique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Educational AI Mentor: Unlike traditional AutoML tools, ML Yantra's AI assistant explains the 'why' behind each step, building ML literacy while delivering results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Fearless Experimentation: Robust undo/redo system with full operation history allows users to experiment without fear of breaking their data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Real-Time Visual Feedback: Adjustable data preview (1-50 rows) updates immediately after each operation, providing instant validation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Gradient Design System: Modern orange-to-pink gradient theme using OKLCH color space for perceptually uniform colors and excellent accessibility (WCAG 2.1 AA compliant)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End-to-End Workflow: Seamless transition from data upload → cleaning → training → evaluation → export in one unified platform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Democratization Focus: Makes ML accessible to business analysts, students, and domain experts, not just data scientists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pace Grotesk"/>
              </a:defRPr>
            </a:pPr>
            <a:r>
              <a:t>DRAWBACKS &amp; SHOWSTOPPERS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pace Grotesk"/>
              </a:defRPr>
            </a:pPr>
            <a:r>
              <a:t>Technical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File Size Limits: CSV upload capped at 100MB - large enterprise datasets may not be supported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Limited Format Support (MVP): Only CSV files supported initially - no Excel, JSON, or database connections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No Hyperparameter Tuning (MVP): Users cannot fine-tune model parameters - may limit advanced use cases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Basic Algorithm Selection: Limited to common algorithms - no deep learning, ensemble methods, or custom models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Browser Performance: Large datasets may cause performance issues in browser-based data preview and visualization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No Collaboration Features (MVP): No user authentication, project sharing, or team collaboration in initial release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pace Grotesk"/>
              </a:defRPr>
            </a:pPr>
            <a:r>
              <a:t>Potential Showstoppers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Data Privacy Concerns: Users may be hesitant to upload sensitive datasets to a web platform without robust security measures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Computational Resources: Training multiple models simultaneously requires significant backend resources - scalability challenges on shared infrastructure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Model Interpretability: Black-box nature of some ML algorithms may not meet regulatory requirements in finance, healthcare, etc.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Data Quality Issues: AI assistant recommendations are only as good as the input data - garbage in, garbage out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Competition from Established Tools: Competing against mature platforms like Google AutoML, DataRobot, and H2O.ai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Learning Curve: Despite 'no-code' promise, users still need to understand ML concepts (overfitting, feature selection, model evaluation) to use effectively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pace Grotesk"/>
              </a:defRPr>
            </a:pPr>
            <a:r>
              <a:t>Risk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Phased Rollout: Start with MVP focusing on core data cleaning and basic model training, then iterate based on user feedback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Security First: Implement encryption for data at rest and in transit, add user authentication in Phase 2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Performance Optimization: Use pagination, lazy loading, and server-side processing for large datasets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Educational Content: Provide in-app tutorials, tooltips, and documentation to bridge knowledge gaps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Scalability Plan: Design backend with horizontal scaling in mind using containerization (Docker) and cloud deployment (AWS/GCP)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62626"/>
                </a:solidFill>
                <a:latin typeface="Inter"/>
              </a:defRPr>
            </a:pPr>
            <a:r>
              <a:t>• Differentiation Strategy: Focus on educational AI assistant and user experience to differentiate from competitors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gradFill rotWithShape="1">
            <a:gsLst>
              <a:gs pos="0">
                <a:srgbClr val="FF7733"/>
              </a:gs>
              <a:gs pos="100000">
                <a:srgbClr val="FF66A3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pace Grotesk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